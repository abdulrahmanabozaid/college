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24"/>
  </p:notesMasterIdLst>
  <p:handoutMasterIdLst>
    <p:handoutMasterId r:id="rId25"/>
  </p:handoutMasterIdLst>
  <p:sldIdLst>
    <p:sldId id="329" r:id="rId2"/>
    <p:sldId id="289" r:id="rId3"/>
    <p:sldId id="301" r:id="rId4"/>
    <p:sldId id="310" r:id="rId5"/>
    <p:sldId id="290" r:id="rId6"/>
    <p:sldId id="291" r:id="rId7"/>
    <p:sldId id="303" r:id="rId8"/>
    <p:sldId id="308" r:id="rId9"/>
    <p:sldId id="304" r:id="rId10"/>
    <p:sldId id="293" r:id="rId11"/>
    <p:sldId id="292" r:id="rId12"/>
    <p:sldId id="295" r:id="rId13"/>
    <p:sldId id="296" r:id="rId14"/>
    <p:sldId id="306" r:id="rId15"/>
    <p:sldId id="309" r:id="rId16"/>
    <p:sldId id="307" r:id="rId17"/>
    <p:sldId id="297" r:id="rId18"/>
    <p:sldId id="298" r:id="rId19"/>
    <p:sldId id="311" r:id="rId20"/>
    <p:sldId id="312" r:id="rId21"/>
    <p:sldId id="313" r:id="rId22"/>
    <p:sldId id="29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06" autoAdjust="0"/>
  </p:normalViewPr>
  <p:slideViewPr>
    <p:cSldViewPr snapToGrid="0" snapToObjects="1">
      <p:cViewPr varScale="1">
        <p:scale>
          <a:sx n="78" d="100"/>
          <a:sy n="78" d="100"/>
        </p:scale>
        <p:origin x="15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Book3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Non-Default</c:v>
          </c:tx>
          <c:spPr>
            <a:ln w="28575">
              <a:noFill/>
            </a:ln>
          </c:spPr>
          <c:marker>
            <c:symbol val="diamond"/>
            <c:size val="11"/>
          </c:marker>
          <c:xVal>
            <c:numRef>
              <c:f>Sheet2!$A$2:$A$7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45</c:v>
                </c:pt>
                <c:pt idx="3">
                  <c:v>20</c:v>
                </c:pt>
                <c:pt idx="4">
                  <c:v>35</c:v>
                </c:pt>
                <c:pt idx="5">
                  <c:v>52</c:v>
                </c:pt>
              </c:numCache>
            </c:numRef>
          </c:xVal>
          <c:yVal>
            <c:numRef>
              <c:f>Sheet2!$B$2:$B$7</c:f>
              <c:numCache>
                <c:formatCode>General</c:formatCode>
                <c:ptCount val="6"/>
                <c:pt idx="0">
                  <c:v>40000</c:v>
                </c:pt>
                <c:pt idx="1">
                  <c:v>60000</c:v>
                </c:pt>
                <c:pt idx="2">
                  <c:v>80000</c:v>
                </c:pt>
                <c:pt idx="3">
                  <c:v>20000</c:v>
                </c:pt>
                <c:pt idx="4">
                  <c:v>120000</c:v>
                </c:pt>
                <c:pt idx="5">
                  <c:v>18000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D0-4861-869D-E8A3DA21F35C}"/>
            </c:ext>
          </c:extLst>
        </c:ser>
        <c:ser>
          <c:idx val="1"/>
          <c:order val="1"/>
          <c:tx>
            <c:v>Default</c:v>
          </c:tx>
          <c:spPr>
            <a:ln w="28575">
              <a:noFill/>
            </a:ln>
          </c:spPr>
          <c:marker>
            <c:symbol val="square"/>
            <c:size val="9"/>
          </c:marker>
          <c:xVal>
            <c:numRef>
              <c:f>Sheet2!$E$2:$E$6</c:f>
              <c:numCache>
                <c:formatCode>General</c:formatCode>
                <c:ptCount val="5"/>
                <c:pt idx="0">
                  <c:v>23</c:v>
                </c:pt>
                <c:pt idx="1">
                  <c:v>40</c:v>
                </c:pt>
                <c:pt idx="2">
                  <c:v>60</c:v>
                </c:pt>
                <c:pt idx="3">
                  <c:v>48</c:v>
                </c:pt>
                <c:pt idx="4">
                  <c:v>33</c:v>
                </c:pt>
              </c:numCache>
            </c:numRef>
          </c:xVal>
          <c:yVal>
            <c:numRef>
              <c:f>Sheet2!$F$2:$F$6</c:f>
              <c:numCache>
                <c:formatCode>General</c:formatCode>
                <c:ptCount val="5"/>
                <c:pt idx="0">
                  <c:v>95000</c:v>
                </c:pt>
                <c:pt idx="1">
                  <c:v>62000</c:v>
                </c:pt>
                <c:pt idx="2">
                  <c:v>100000</c:v>
                </c:pt>
                <c:pt idx="3">
                  <c:v>220000</c:v>
                </c:pt>
                <c:pt idx="4">
                  <c:v>150000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8D0-4861-869D-E8A3DA21F3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44225352"/>
        <c:axId val="-2144165256"/>
      </c:scatterChart>
      <c:valAx>
        <c:axId val="-21442253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-2144165256"/>
        <c:crosses val="autoZero"/>
        <c:crossBetween val="midCat"/>
      </c:valAx>
      <c:valAx>
        <c:axId val="-2144165256"/>
        <c:scaling>
          <c:orientation val="minMax"/>
        </c:scaling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2144225352"/>
        <c:crosses val="autoZero"/>
        <c:crossBetween val="midCat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0.47423</cdr:x>
      <cdr:y>0.401</cdr:y>
    </cdr:from>
    <cdr:to>
      <cdr:x>0.58763</cdr:x>
      <cdr:y>0.46115</cdr:y>
    </cdr:to>
    <cdr:sp macro="" textlink="">
      <cdr:nvSpPr>
        <cdr:cNvPr id="5" name="Straight Arrow Connector 4"/>
        <cdr:cNvSpPr/>
      </cdr:nvSpPr>
      <cdr:spPr>
        <a:xfrm xmlns:a="http://schemas.openxmlformats.org/drawingml/2006/main" rot="10800000" flipV="1">
          <a:off x="3505200" y="1524000"/>
          <a:ext cx="838200" cy="228599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arrow"/>
        </a:ln>
      </cdr:spPr>
      <cdr:style>
        <a:lnRef xmlns:a="http://schemas.openxmlformats.org/drawingml/2006/main" idx="2">
          <a:schemeClr val="accent3"/>
        </a:lnRef>
        <a:fillRef xmlns:a="http://schemas.openxmlformats.org/drawingml/2006/main" idx="0">
          <a:schemeClr val="accent3"/>
        </a:fillRef>
        <a:effectRef xmlns:a="http://schemas.openxmlformats.org/drawingml/2006/main" idx="1">
          <a:schemeClr val="accent3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0.59794</cdr:x>
      <cdr:y>0.401</cdr:y>
    </cdr:from>
    <cdr:to>
      <cdr:x>0.70103</cdr:x>
      <cdr:y>0.50125</cdr:y>
    </cdr:to>
    <cdr:sp macro="" textlink="">
      <cdr:nvSpPr>
        <cdr:cNvPr id="7" name="Straight Arrow Connector 6"/>
        <cdr:cNvSpPr/>
      </cdr:nvSpPr>
      <cdr:spPr>
        <a:xfrm xmlns:a="http://schemas.openxmlformats.org/drawingml/2006/main">
          <a:off x="4419600" y="1524000"/>
          <a:ext cx="762000" cy="381000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arrow"/>
        </a:ln>
      </cdr:spPr>
      <cdr:style>
        <a:lnRef xmlns:a="http://schemas.openxmlformats.org/drawingml/2006/main" idx="2">
          <a:schemeClr val="accent3"/>
        </a:lnRef>
        <a:fillRef xmlns:a="http://schemas.openxmlformats.org/drawingml/2006/main" idx="0">
          <a:schemeClr val="accent3"/>
        </a:fillRef>
        <a:effectRef xmlns:a="http://schemas.openxmlformats.org/drawingml/2006/main" idx="1">
          <a:schemeClr val="accent3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A7DB9-F58A-1241-85AE-1F6624FC4418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F115A-3F75-F74D-905C-C3A75AA56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972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5C5F2-3E3B-E144-BCCD-DD15C132784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FA4BC-7918-4842-A501-105B9A494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335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similarity</a:t>
            </a:r>
            <a:r>
              <a:rPr lang="en-US" baseline="0" dirty="0"/>
              <a:t> function</a:t>
            </a:r>
          </a:p>
          <a:p>
            <a:endParaRPr lang="en-US" baseline="0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“tell me who your neighbors are, and I’ll tell you who you are”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Simplest Algorithms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  <a:p>
            <a:r>
              <a:rPr lang="en-US" dirty="0"/>
              <a:t>KNN </a:t>
            </a:r>
            <a:r>
              <a:rPr lang="en-US" dirty="0" err="1"/>
              <a:t>stattistical</a:t>
            </a:r>
            <a:r>
              <a:rPr lang="en-US" dirty="0"/>
              <a:t> estimation</a:t>
            </a:r>
          </a:p>
          <a:p>
            <a:r>
              <a:rPr lang="en-US" dirty="0"/>
              <a:t>Pattern recognition in the beginning of 1970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 and </a:t>
            </a:r>
            <a:r>
              <a:rPr lang="en-US" dirty="0" err="1"/>
              <a:t>hight</a:t>
            </a:r>
            <a:r>
              <a:rPr lang="en-US" baseline="0" dirty="0"/>
              <a:t> of people and we assume</a:t>
            </a:r>
          </a:p>
          <a:p>
            <a:r>
              <a:rPr lang="en-US" baseline="0" dirty="0"/>
              <a:t>Red : female</a:t>
            </a:r>
          </a:p>
          <a:p>
            <a:r>
              <a:rPr lang="en-US" baseline="0" dirty="0"/>
              <a:t>Blue: Male</a:t>
            </a:r>
          </a:p>
          <a:p>
            <a:endParaRPr lang="en-US" baseline="0" dirty="0"/>
          </a:p>
          <a:p>
            <a:r>
              <a:rPr lang="en-US" baseline="0" dirty="0"/>
              <a:t>So we have new measurement of </a:t>
            </a:r>
            <a:r>
              <a:rPr lang="en-US" baseline="0" dirty="0" err="1"/>
              <a:t>hight</a:t>
            </a:r>
            <a:r>
              <a:rPr lang="en-US" baseline="0" dirty="0"/>
              <a:t> and weight …</a:t>
            </a:r>
          </a:p>
          <a:p>
            <a:endParaRPr lang="en-US" baseline="0" dirty="0"/>
          </a:p>
          <a:p>
            <a:r>
              <a:rPr lang="en-US" baseline="0" dirty="0"/>
              <a:t>K=1,female ,we assigned class =female</a:t>
            </a:r>
          </a:p>
          <a:p>
            <a:r>
              <a:rPr lang="en-US" baseline="0" dirty="0"/>
              <a:t>K=5 3 female, 2 males</a:t>
            </a:r>
          </a:p>
          <a:p>
            <a:r>
              <a:rPr lang="en-US" baseline="0" dirty="0"/>
              <a:t>K=odd</a:t>
            </a:r>
          </a:p>
          <a:p>
            <a:r>
              <a:rPr lang="en-US" baseline="0" dirty="0"/>
              <a:t>K=6 we have 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FA4BC-7918-4842-A501-105B9A4943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37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there are other possible choices, most instance-based learners use Euclid-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FA4BC-7918-4842-A501-105B9A4943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20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there are other possible choices, most instance-based learners use Euclid-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distance. </a:t>
            </a: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distance metrics may be more appropriate in special circumstances.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we have too many points Sum the squared differences and we</a:t>
            </a:r>
            <a:r>
              <a:rPr lang="en-US" baseline="0" dirty="0"/>
              <a:t> get the square roots</a:t>
            </a:r>
          </a:p>
          <a:p>
            <a:r>
              <a:rPr lang="en-US" baseline="0" dirty="0"/>
              <a:t>In </a:t>
            </a:r>
            <a:r>
              <a:rPr lang="en-US" baseline="0" dirty="0" err="1"/>
              <a:t>Manhanttan</a:t>
            </a:r>
            <a:r>
              <a:rPr lang="en-US" baseline="0" dirty="0"/>
              <a:t> distances : get </a:t>
            </a:r>
            <a:r>
              <a:rPr lang="en-US" baseline="0" dirty="0" err="1"/>
              <a:t>absoulte</a:t>
            </a:r>
            <a:r>
              <a:rPr lang="en-US" baseline="0" dirty="0"/>
              <a:t> values</a:t>
            </a:r>
          </a:p>
          <a:p>
            <a:r>
              <a:rPr lang="en-US" baseline="0" dirty="0"/>
              <a:t>Min-</a:t>
            </a:r>
            <a:r>
              <a:rPr lang="en-US" baseline="0" dirty="0" err="1"/>
              <a:t>ko</a:t>
            </a:r>
            <a:r>
              <a:rPr lang="en-US" baseline="0" dirty="0"/>
              <a:t>-</a:t>
            </a:r>
            <a:r>
              <a:rPr lang="en-US" baseline="0" dirty="0" err="1"/>
              <a:t>waski</a:t>
            </a:r>
            <a:r>
              <a:rPr lang="en-US" baseline="0" dirty="0"/>
              <a:t> distance=</a:t>
            </a:r>
          </a:p>
          <a:p>
            <a:endParaRPr lang="en-US" baseline="0" dirty="0"/>
          </a:p>
          <a:p>
            <a:r>
              <a:rPr lang="en-US" baseline="0" dirty="0"/>
              <a:t>Different distance measure .. We use the common 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FA4BC-7918-4842-A501-105B9A4943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70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N-feature</a:t>
            </a:r>
            <a:r>
              <a:rPr lang="en-US" baseline="0" dirty="0"/>
              <a:t> size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FA4BC-7918-4842-A501-105B9A4943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15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</a:t>
            </a:r>
            <a:r>
              <a:rPr lang="en-US" baseline="0" dirty="0"/>
              <a:t> single number K is given prior to the testing phase and this number decides how many neighbors influence the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</a:t>
            </a:r>
            <a:r>
              <a:rPr lang="en-US" baseline="0" dirty="0"/>
              <a:t> the sample set is finite..</a:t>
            </a:r>
          </a:p>
          <a:p>
            <a:endParaRPr lang="en-US" baseline="0" dirty="0"/>
          </a:p>
          <a:p>
            <a:r>
              <a:rPr lang="en-US" baseline="0" dirty="0"/>
              <a:t>Historically the </a:t>
            </a:r>
            <a:r>
              <a:rPr lang="en-US" baseline="0" dirty="0" err="1"/>
              <a:t>optomal</a:t>
            </a:r>
            <a:r>
              <a:rPr lang="en-US" baseline="0" dirty="0"/>
              <a:t> K for </a:t>
            </a:r>
            <a:r>
              <a:rPr lang="en-US" baseline="0" dirty="0" err="1"/>
              <a:t>mpst</a:t>
            </a:r>
            <a:r>
              <a:rPr lang="en-US" baseline="0" dirty="0"/>
              <a:t> datasets has been between 3-10 . That produces much better results than 1NN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74282D27-2008-9448-86A9-76073345E171}" type="datetime1">
              <a:rPr lang="en-US" sz="1200" b="0">
                <a:solidFill>
                  <a:schemeClr val="tx1"/>
                </a:solidFill>
              </a:rPr>
              <a:pPr eaLnBrk="1" hangingPunct="1"/>
              <a:t>12/13/2024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2970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EA3FA04-62C0-0749-8995-8C5E1D5F5138}" type="slidenum">
              <a:rPr lang="en-US" sz="1200" b="0">
                <a:solidFill>
                  <a:schemeClr val="tx1"/>
                </a:solidFill>
              </a:rPr>
              <a:pPr eaLnBrk="1" hangingPunct="1"/>
              <a:t>15</a:t>
            </a:fld>
            <a:endParaRPr lang="en-US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configurations over data before applying KNN</a:t>
            </a:r>
          </a:p>
          <a:p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attributes are often measured on different scales,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Numerical: Here the difference between two values is just the numerical difference between them, and it is this difference that is squared and added to yield the distance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Nominal: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difference between two values that are not the same is often taken to be 1, whereas if the values are the same the difference is 0.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scaling is required in this case because only the values 0 and 1 are used. </a:t>
            </a:r>
            <a:endParaRPr lang="en-US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For attributes with more than two values, binary indicator variables are used as an implicit solution.</a:t>
            </a:r>
          </a:p>
          <a:p>
            <a:pPr lvl="1"/>
            <a:r>
              <a:rPr lang="en-US" sz="2100" dirty="0"/>
              <a:t>Ex: In a customers’ Bank field with 3 values,</a:t>
            </a:r>
          </a:p>
          <a:p>
            <a:pPr lvl="2"/>
            <a:r>
              <a:rPr lang="en-US" sz="1900" dirty="0"/>
              <a:t>Bank1 – 100</a:t>
            </a:r>
          </a:p>
          <a:p>
            <a:pPr lvl="2"/>
            <a:r>
              <a:rPr lang="en-US" sz="1900" dirty="0"/>
              <a:t>Bank2 – 010</a:t>
            </a:r>
          </a:p>
          <a:p>
            <a:pPr lvl="2"/>
            <a:r>
              <a:rPr lang="en-US" sz="1900" dirty="0"/>
              <a:t>Bank3 - 001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A05105-28EF-4A3E-90EA-99884A443FE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price to pay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FA4BC-7918-4842-A501-105B9A4943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36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Robust: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 and healthy;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vigorou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FA4BC-7918-4842-A501-105B9A49439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0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D599E-FBCA-C444-BD94-4CDD689CCBB0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7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BA53-0209-9148-8D97-C604C3C401CA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5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2E99-1925-0D4D-B998-B3580C993B5D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9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A3CC-DF0E-DD40-944E-A8C411393E39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1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F78C-DE25-B84E-964C-49ABC234DC39}" type="datetime1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5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F085-A1F6-FE44-B97E-5EA2C8F1B6D1}" type="datetime1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7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6E1CB-DC07-A642-8E4D-B870D77A7D43}" type="datetime1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6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048E-A61C-224E-8DD5-9AA6B31602FC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6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F79C7-9A2C-3240-8C85-A194A2D12DDC}" type="datetime1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E2E39-952C-8A47-A71F-C50E1E380A1F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B3E1-A0CF-1E42-AC0F-7790791E620E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9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495DA-AAEE-8047-8665-9C6766EEE139}" type="datetime1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8662D-46D9-5540-9846-D84557FAF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gif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83" y="260284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Algorithms: K Nearest Neighbors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0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3733800" y="3581400"/>
            <a:ext cx="2286000" cy="21336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74900"/>
            <a:ext cx="8229600" cy="869287"/>
          </a:xfrm>
        </p:spPr>
        <p:txBody>
          <a:bodyPr/>
          <a:lstStyle/>
          <a:p>
            <a:r>
              <a:rPr lang="en-US" dirty="0"/>
              <a:t>Simple Analogy..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89205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Tell me about your friends(</a:t>
            </a:r>
            <a:r>
              <a:rPr lang="en-US" i="1" dirty="0"/>
              <a:t>who your neighbors are</a:t>
            </a:r>
            <a:r>
              <a:rPr lang="en-US" dirty="0"/>
              <a:t>) and </a:t>
            </a:r>
            <a:r>
              <a:rPr lang="en-US" i="1" dirty="0">
                <a:solidFill>
                  <a:srgbClr val="FF0000"/>
                </a:solidFill>
              </a:rPr>
              <a:t>I will tell you who you are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	</a:t>
            </a: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		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7" name="Picture 3" descr="C:\Users\Nishara\Desktop\data_mining_iamages\depositphotos_4848676-Children-reading-a-book.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39244" y="1981200"/>
            <a:ext cx="1771156" cy="1534195"/>
          </a:xfrm>
          <a:prstGeom prst="rect">
            <a:avLst/>
          </a:prstGeom>
          <a:noFill/>
        </p:spPr>
      </p:pic>
      <p:pic>
        <p:nvPicPr>
          <p:cNvPr id="1030" name="Picture 6" descr="C:\Users\Nishara\Desktop\data_mining_iamages\cartoon_dancer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2590800"/>
            <a:ext cx="1524000" cy="1530062"/>
          </a:xfrm>
          <a:prstGeom prst="rect">
            <a:avLst/>
          </a:prstGeom>
          <a:noFill/>
        </p:spPr>
      </p:pic>
      <p:pic>
        <p:nvPicPr>
          <p:cNvPr id="1031" name="Picture 7" descr="C:\Users\Nishara\Desktop\data_mining_iamages\children-cartoon-500x296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4953000"/>
            <a:ext cx="2133600" cy="1263092"/>
          </a:xfrm>
          <a:prstGeom prst="rect">
            <a:avLst/>
          </a:prstGeom>
          <a:noFill/>
        </p:spPr>
      </p:pic>
      <p:pic>
        <p:nvPicPr>
          <p:cNvPr id="1035" name="Picture 11" descr="C:\Users\Nishara\Desktop\data_mining_iamages\boy-soccer-player-clipart-clip_art_soccer_1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00800" y="5275580"/>
            <a:ext cx="1614714" cy="1582420"/>
          </a:xfrm>
          <a:prstGeom prst="rect">
            <a:avLst/>
          </a:prstGeom>
          <a:noFill/>
        </p:spPr>
      </p:pic>
      <p:pic>
        <p:nvPicPr>
          <p:cNvPr id="1036" name="Picture 12" descr="C:\Users\Nishara\Desktop\data_mining_iamages\Untitled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91000" y="3962400"/>
            <a:ext cx="1328105" cy="1447800"/>
          </a:xfrm>
          <a:prstGeom prst="rect">
            <a:avLst/>
          </a:prstGeom>
          <a:noFill/>
        </p:spPr>
      </p:pic>
      <p:pic>
        <p:nvPicPr>
          <p:cNvPr id="11269" name="Picture 5" descr="C:\Users\Nishara\Desktop\data_mining_iamages\Untitled1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81800" y="3581400"/>
            <a:ext cx="1690575" cy="137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399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862013"/>
            <a:ext cx="8162925" cy="762000"/>
          </a:xfrm>
        </p:spPr>
        <p:txBody>
          <a:bodyPr/>
          <a:lstStyle/>
          <a:p>
            <a:r>
              <a:rPr lang="en-US"/>
              <a:t>Instance-based Learning</a:t>
            </a:r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143000" y="3962400"/>
            <a:ext cx="1341438" cy="19050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D1ECA5"/>
                </a:solidFill>
              </a14:hiddenFill>
            </a:ext>
          </a:extLst>
        </p:spPr>
      </p:pic>
      <p:pic>
        <p:nvPicPr>
          <p:cNvPr id="8205" name="Picture 13" descr="graphic_prodserv_palm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62200"/>
            <a:ext cx="6858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dim_b_ser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514600"/>
            <a:ext cx="1143000" cy="86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207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667000" y="2743200"/>
            <a:ext cx="4953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20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953000" y="5029200"/>
            <a:ext cx="1066800" cy="81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210" name="Picture 1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486400" y="2971800"/>
            <a:ext cx="9144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212" name="Oval 20"/>
          <p:cNvSpPr>
            <a:spLocks noChangeArrowheads="1"/>
          </p:cNvSpPr>
          <p:nvPr/>
        </p:nvSpPr>
        <p:spPr bwMode="auto">
          <a:xfrm>
            <a:off x="2819400" y="3733800"/>
            <a:ext cx="30480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/>
              <a:t>Its very similar to a</a:t>
            </a:r>
          </a:p>
          <a:p>
            <a:pPr algn="ctr"/>
            <a:r>
              <a:rPr lang="en-US" sz="2000" dirty="0"/>
              <a:t>Desktop!!</a:t>
            </a:r>
          </a:p>
        </p:txBody>
      </p:sp>
      <p:sp>
        <p:nvSpPr>
          <p:cNvPr id="8213" name="Line 21"/>
          <p:cNvSpPr>
            <a:spLocks noChangeShapeType="1"/>
          </p:cNvSpPr>
          <p:nvPr/>
        </p:nvSpPr>
        <p:spPr bwMode="auto">
          <a:xfrm flipV="1">
            <a:off x="1981200" y="4267200"/>
            <a:ext cx="838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" grpId="0" animBg="1" autoUpdateAnimBg="0"/>
      <p:bldP spid="82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Calibri" charset="0"/>
              </a:rPr>
              <a:t>KNN – Different names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gradFill rotWithShape="1">
            <a:gsLst>
              <a:gs pos="0">
                <a:srgbClr val="A3C4FF"/>
              </a:gs>
              <a:gs pos="35001">
                <a:srgbClr val="BFD5FF"/>
              </a:gs>
              <a:gs pos="100000">
                <a:srgbClr val="E5EEFF"/>
              </a:gs>
            </a:gsLst>
            <a:lin ang="16200000" scaled="1"/>
          </a:gradFill>
          <a:ln cap="flat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4000" dirty="0">
                <a:solidFill>
                  <a:schemeClr val="dk1"/>
                </a:solidFill>
                <a:ea typeface="+mn-ea"/>
              </a:rPr>
              <a:t>K-Nearest Neighbors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4000" dirty="0">
                <a:solidFill>
                  <a:schemeClr val="dk1"/>
                </a:solidFill>
                <a:ea typeface="+mn-ea"/>
              </a:rPr>
              <a:t>Memory-Based Reasoning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4000" dirty="0">
                <a:solidFill>
                  <a:schemeClr val="dk1"/>
                </a:solidFill>
                <a:ea typeface="+mn-ea"/>
              </a:rPr>
              <a:t>Example-Based Reasoning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4000" dirty="0">
                <a:solidFill>
                  <a:schemeClr val="dk1"/>
                </a:solidFill>
                <a:ea typeface="+mn-ea"/>
              </a:rPr>
              <a:t>Instance-Based Learning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4000" dirty="0">
                <a:solidFill>
                  <a:schemeClr val="dk1"/>
                </a:solidFill>
                <a:ea typeface="+mn-ea"/>
              </a:rPr>
              <a:t>Lazy Learning</a:t>
            </a:r>
            <a:endParaRPr lang="en-US" sz="4000" i="1" dirty="0">
              <a:solidFill>
                <a:schemeClr val="dk1"/>
              </a:solidFill>
              <a:ea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2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9159"/>
          </a:xfrm>
        </p:spPr>
        <p:txBody>
          <a:bodyPr/>
          <a:lstStyle/>
          <a:p>
            <a:r>
              <a:rPr lang="en-US" dirty="0"/>
              <a:t>What is KNN?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powerful classification algorithm used in pattern recognition.</a:t>
            </a:r>
          </a:p>
          <a:p>
            <a:endParaRPr lang="en-US" dirty="0"/>
          </a:p>
          <a:p>
            <a:r>
              <a:rPr lang="en-US" dirty="0"/>
              <a:t>K nearest neighbors stores all available cases and classifies new cases based on a </a:t>
            </a:r>
            <a:r>
              <a:rPr lang="en-US" i="1" dirty="0">
                <a:solidFill>
                  <a:srgbClr val="FF0000"/>
                </a:solidFill>
              </a:rPr>
              <a:t>similarity measure</a:t>
            </a:r>
            <a:r>
              <a:rPr lang="en-US" dirty="0"/>
              <a:t>(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distance function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One of 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top data mining algorithms </a:t>
            </a:r>
            <a:r>
              <a:rPr lang="en-US" dirty="0"/>
              <a:t>used today.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non-parametric</a:t>
            </a:r>
            <a:r>
              <a:rPr lang="en-US" dirty="0"/>
              <a:t> lazy learning algorithm (An Instance-based Learning method).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9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01600"/>
            <a:ext cx="8229600" cy="769938"/>
          </a:xfrm>
        </p:spPr>
        <p:txBody>
          <a:bodyPr>
            <a:normAutofit/>
          </a:bodyPr>
          <a:lstStyle/>
          <a:p>
            <a:r>
              <a:rPr lang="en-US" dirty="0"/>
              <a:t>KNN: Classification Approach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8300" y="871538"/>
            <a:ext cx="8597900" cy="430987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 object (a new instance) is classified by a majority votes for its neighbor classes.</a:t>
            </a:r>
          </a:p>
          <a:p>
            <a:r>
              <a:rPr lang="en-US" dirty="0"/>
              <a:t>The object is assigned to the most common class amongst its K nearest neighbors.(</a:t>
            </a:r>
            <a:r>
              <a:rPr lang="en-US" i="1" dirty="0"/>
              <a:t>measured by a distant function  </a:t>
            </a:r>
            <a:r>
              <a:rPr lang="en-US" dirty="0"/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169" name="Picture 1" descr="C:\Users\Nishara\Desktop\data_mining_iamages\images (1).jp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8186" y="4330701"/>
            <a:ext cx="2772552" cy="2180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06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Screen Shot 2015-07-07 at 5.35.11 A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504" r="-12504"/>
          <a:stretch>
            <a:fillRect/>
          </a:stretch>
        </p:blipFill>
        <p:spPr>
          <a:xfrm>
            <a:off x="-112984" y="1600200"/>
            <a:ext cx="8229600" cy="452596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08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Measure</a:t>
            </a: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815975" y="1787526"/>
            <a:ext cx="7740650" cy="3429000"/>
            <a:chOff x="466" y="1632"/>
            <a:chExt cx="4876" cy="2160"/>
          </a:xfrm>
        </p:grpSpPr>
        <p:pic>
          <p:nvPicPr>
            <p:cNvPr id="5" name="Picture 4" descr="j034580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2160"/>
              <a:ext cx="407" cy="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 descr="j023958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2688"/>
              <a:ext cx="554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" descr="j035038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1872"/>
              <a:ext cx="342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j03306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2928"/>
              <a:ext cx="28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8" descr="j035038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3120"/>
              <a:ext cx="530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 descr="j035035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2400"/>
              <a:ext cx="554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1152" y="1632"/>
              <a:ext cx="2160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66" y="3120"/>
              <a:ext cx="73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>
                  <a:solidFill>
                    <a:schemeClr val="tx1"/>
                  </a:solidFill>
                  <a:latin typeface="Arial" charset="0"/>
                </a:rPr>
                <a:t>Training Records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4608" y="2208"/>
              <a:ext cx="73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>
                  <a:solidFill>
                    <a:schemeClr val="tx1"/>
                  </a:solidFill>
                  <a:latin typeface="Arial" charset="0"/>
                </a:rPr>
                <a:t>Test Record</a:t>
              </a:r>
            </a:p>
          </p:txBody>
        </p: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1680" y="1920"/>
              <a:ext cx="2880" cy="1440"/>
              <a:chOff x="1680" y="1920"/>
              <a:chExt cx="2880" cy="1440"/>
            </a:xfrm>
          </p:grpSpPr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3312" y="1920"/>
                <a:ext cx="8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800">
                    <a:solidFill>
                      <a:schemeClr val="tx1"/>
                    </a:solidFill>
                    <a:latin typeface="Arial" charset="0"/>
                  </a:rPr>
                  <a:t>Compute Distance</a:t>
                </a:r>
              </a:p>
            </p:txBody>
          </p:sp>
          <p:grpSp>
            <p:nvGrpSpPr>
              <p:cNvPr id="21" name="Group 16"/>
              <p:cNvGrpSpPr>
                <a:grpSpLocks/>
              </p:cNvGrpSpPr>
              <p:nvPr/>
            </p:nvGrpSpPr>
            <p:grpSpPr bwMode="auto">
              <a:xfrm>
                <a:off x="1680" y="2256"/>
                <a:ext cx="2880" cy="1104"/>
                <a:chOff x="1680" y="2256"/>
                <a:chExt cx="2880" cy="1104"/>
              </a:xfrm>
            </p:grpSpPr>
            <p:sp>
              <p:nvSpPr>
                <p:cNvPr id="22" name="Line 17"/>
                <p:cNvSpPr>
                  <a:spLocks noChangeShapeType="1"/>
                </p:cNvSpPr>
                <p:nvPr/>
              </p:nvSpPr>
              <p:spPr bwMode="auto">
                <a:xfrm>
                  <a:off x="2832" y="2256"/>
                  <a:ext cx="1680" cy="57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Line 18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2016" cy="4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928" y="3072"/>
                  <a:ext cx="1584" cy="2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680" y="3024"/>
                  <a:ext cx="2832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Line 21"/>
                <p:cNvSpPr>
                  <a:spLocks noChangeShapeType="1"/>
                </p:cNvSpPr>
                <p:nvPr/>
              </p:nvSpPr>
              <p:spPr bwMode="auto">
                <a:xfrm>
                  <a:off x="1920" y="2352"/>
                  <a:ext cx="2544" cy="52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" name="Group 22"/>
            <p:cNvGrpSpPr>
              <a:grpSpLocks/>
            </p:cNvGrpSpPr>
            <p:nvPr/>
          </p:nvGrpSpPr>
          <p:grpSpPr bwMode="auto">
            <a:xfrm>
              <a:off x="2544" y="2880"/>
              <a:ext cx="2112" cy="836"/>
              <a:chOff x="2544" y="2880"/>
              <a:chExt cx="2112" cy="836"/>
            </a:xfrm>
          </p:grpSpPr>
          <p:sp>
            <p:nvSpPr>
              <p:cNvPr id="16" name="Text Box 23"/>
              <p:cNvSpPr txBox="1">
                <a:spLocks noChangeArrowheads="1"/>
              </p:cNvSpPr>
              <p:nvPr/>
            </p:nvSpPr>
            <p:spPr bwMode="auto">
              <a:xfrm>
                <a:off x="3264" y="3312"/>
                <a:ext cx="139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800">
                    <a:solidFill>
                      <a:schemeClr val="tx1"/>
                    </a:solidFill>
                    <a:latin typeface="Arial" charset="0"/>
                  </a:rPr>
                  <a:t>Choose k of the </a:t>
                </a:r>
                <a:r>
                  <a:rPr lang="ja-JP" altLang="en-US" sz="1800">
                    <a:solidFill>
                      <a:schemeClr val="tx1"/>
                    </a:solidFill>
                    <a:latin typeface="Arial" charset="0"/>
                  </a:rPr>
                  <a:t>“</a:t>
                </a:r>
                <a:r>
                  <a:rPr lang="en-US" sz="1800">
                    <a:solidFill>
                      <a:schemeClr val="tx1"/>
                    </a:solidFill>
                    <a:latin typeface="Arial" charset="0"/>
                  </a:rPr>
                  <a:t>nearest</a:t>
                </a:r>
                <a:r>
                  <a:rPr lang="ja-JP" altLang="en-US" sz="1800">
                    <a:solidFill>
                      <a:schemeClr val="tx1"/>
                    </a:solidFill>
                    <a:latin typeface="Arial" charset="0"/>
                  </a:rPr>
                  <a:t>”</a:t>
                </a:r>
                <a:r>
                  <a:rPr lang="en-US" sz="1800">
                    <a:solidFill>
                      <a:schemeClr val="tx1"/>
                    </a:solidFill>
                    <a:latin typeface="Arial" charset="0"/>
                  </a:rPr>
                  <a:t> records</a:t>
                </a:r>
              </a:p>
            </p:txBody>
          </p:sp>
          <p:grpSp>
            <p:nvGrpSpPr>
              <p:cNvPr id="17" name="Group 24"/>
              <p:cNvGrpSpPr>
                <a:grpSpLocks/>
              </p:cNvGrpSpPr>
              <p:nvPr/>
            </p:nvGrpSpPr>
            <p:grpSpPr bwMode="auto">
              <a:xfrm>
                <a:off x="2544" y="2880"/>
                <a:ext cx="2016" cy="480"/>
                <a:chOff x="2544" y="2880"/>
                <a:chExt cx="2016" cy="480"/>
              </a:xfrm>
            </p:grpSpPr>
            <p:sp>
              <p:nvSpPr>
                <p:cNvPr id="18" name="Line 25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2016" cy="48"/>
                </a:xfrm>
                <a:prstGeom prst="line">
                  <a:avLst/>
                </a:prstGeom>
                <a:noFill/>
                <a:ln w="444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28" y="3072"/>
                  <a:ext cx="1584" cy="288"/>
                </a:xfrm>
                <a:prstGeom prst="line">
                  <a:avLst/>
                </a:prstGeom>
                <a:noFill/>
                <a:ln w="444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9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measure for Continuous Variables</a:t>
            </a:r>
          </a:p>
        </p:txBody>
      </p:sp>
      <p:pic>
        <p:nvPicPr>
          <p:cNvPr id="4" name="Content Placeholder 3" descr="Screen Shot 2015-07-07 at 5.44.37 A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130" r="-36130"/>
          <a:stretch>
            <a:fillRect/>
          </a:stretch>
        </p:blipFill>
        <p:spPr/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9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Between Neighbors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4995672"/>
          </a:xfrm>
        </p:spPr>
        <p:txBody>
          <a:bodyPr/>
          <a:lstStyle/>
          <a:p>
            <a:r>
              <a:rPr lang="en-US" dirty="0"/>
              <a:t>Calculate the distance between new example (E) and all examples in the training set.</a:t>
            </a:r>
          </a:p>
          <a:p>
            <a:endParaRPr lang="en-US" dirty="0"/>
          </a:p>
          <a:p>
            <a:r>
              <a:rPr lang="en-US" i="1" dirty="0"/>
              <a:t>Euclidean</a:t>
            </a:r>
            <a:r>
              <a:rPr lang="en-US" dirty="0"/>
              <a:t> distance between two examples.</a:t>
            </a:r>
          </a:p>
          <a:p>
            <a:pPr lvl="1"/>
            <a:r>
              <a:rPr lang="en-US" dirty="0"/>
              <a:t>X</a:t>
            </a:r>
            <a:r>
              <a:rPr lang="en-US" sz="1400" dirty="0"/>
              <a:t>  </a:t>
            </a:r>
            <a:r>
              <a:rPr lang="en-US" dirty="0"/>
              <a:t>= [x</a:t>
            </a:r>
            <a:r>
              <a:rPr lang="en-US" sz="1400" dirty="0"/>
              <a:t>1</a:t>
            </a:r>
            <a:r>
              <a:rPr lang="en-US" dirty="0"/>
              <a:t>,x</a:t>
            </a:r>
            <a:r>
              <a:rPr lang="en-US" sz="1400" dirty="0"/>
              <a:t>2</a:t>
            </a:r>
            <a:r>
              <a:rPr lang="en-US" dirty="0"/>
              <a:t>,x</a:t>
            </a:r>
            <a:r>
              <a:rPr lang="en-US" sz="1400" dirty="0"/>
              <a:t>3</a:t>
            </a:r>
            <a:r>
              <a:rPr lang="en-US" dirty="0"/>
              <a:t>,..,x</a:t>
            </a:r>
            <a:r>
              <a:rPr lang="en-US" sz="1400" dirty="0"/>
              <a:t>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Y = [y</a:t>
            </a:r>
            <a:r>
              <a:rPr lang="en-US" sz="1400" dirty="0"/>
              <a:t>1</a:t>
            </a:r>
            <a:r>
              <a:rPr lang="en-US" dirty="0"/>
              <a:t>,y</a:t>
            </a:r>
            <a:r>
              <a:rPr lang="en-US" sz="1400" dirty="0"/>
              <a:t>2</a:t>
            </a:r>
            <a:r>
              <a:rPr lang="en-US" dirty="0"/>
              <a:t>,y</a:t>
            </a:r>
            <a:r>
              <a:rPr lang="en-US" sz="1400" dirty="0"/>
              <a:t>3</a:t>
            </a:r>
            <a:r>
              <a:rPr lang="en-US" dirty="0"/>
              <a:t>,...,</a:t>
            </a:r>
            <a:r>
              <a:rPr lang="en-US" dirty="0" err="1"/>
              <a:t>y</a:t>
            </a:r>
            <a:r>
              <a:rPr lang="en-US" sz="1400" dirty="0" err="1"/>
              <a:t>n</a:t>
            </a:r>
            <a:r>
              <a:rPr lang="en-US" dirty="0"/>
              <a:t>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Euclidean distance between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is defined as: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984317"/>
              </p:ext>
            </p:extLst>
          </p:nvPr>
        </p:nvGraphicFramePr>
        <p:xfrm>
          <a:off x="3467100" y="5688012"/>
          <a:ext cx="29718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482400" progId="Equation.3">
                  <p:embed/>
                </p:oleObj>
              </mc:Choice>
              <mc:Fallback>
                <p:oleObj name="Equation" r:id="rId3" imgW="1562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5688012"/>
                        <a:ext cx="297180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4319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62971"/>
            <a:ext cx="8229600" cy="699029"/>
          </a:xfrm>
        </p:spPr>
        <p:txBody>
          <a:bodyPr>
            <a:normAutofit fontScale="90000"/>
          </a:bodyPr>
          <a:lstStyle/>
          <a:p>
            <a:r>
              <a:rPr lang="en-US" dirty="0"/>
              <a:t>K-Nearest Neighbor Algorithm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9594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All the instances correspond to points in an n-dimensional feature space.</a:t>
            </a:r>
          </a:p>
          <a:p>
            <a:endParaRPr lang="en-US" dirty="0"/>
          </a:p>
          <a:p>
            <a:r>
              <a:rPr lang="en-US" dirty="0"/>
              <a:t>Each instance is represented with a set of numerical attributes.</a:t>
            </a:r>
          </a:p>
          <a:p>
            <a:endParaRPr lang="en-US" dirty="0"/>
          </a:p>
          <a:p>
            <a:r>
              <a:rPr lang="en-US" dirty="0"/>
              <a:t>Each of the training data consists of a set of vectors and a class label associated with each vector.</a:t>
            </a:r>
          </a:p>
          <a:p>
            <a:endParaRPr lang="en-US" dirty="0"/>
          </a:p>
          <a:p>
            <a:r>
              <a:rPr lang="en-US" dirty="0"/>
              <a:t>Classification is done by comparing feature vectors of different K nearest points.</a:t>
            </a:r>
          </a:p>
          <a:p>
            <a:endParaRPr lang="en-US" dirty="0"/>
          </a:p>
          <a:p>
            <a:r>
              <a:rPr lang="en-US" dirty="0"/>
              <a:t>Select  the K-nearest examples to E in the training set.</a:t>
            </a:r>
          </a:p>
          <a:p>
            <a:endParaRPr lang="en-US" dirty="0"/>
          </a:p>
          <a:p>
            <a:r>
              <a:rPr lang="en-US" dirty="0"/>
              <a:t>Assign E to the most common class among its K-nearest neighbors.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3-KNN: Example(1)</a:t>
            </a:r>
          </a:p>
        </p:txBody>
      </p:sp>
      <p:graphicFrame>
        <p:nvGraphicFramePr>
          <p:cNvPr id="6" name="Group 235"/>
          <p:cNvGraphicFramePr>
            <a:graphicFrameLocks noGrp="1"/>
          </p:cNvGraphicFramePr>
          <p:nvPr>
            <p:ph idx="1"/>
          </p:nvPr>
        </p:nvGraphicFramePr>
        <p:xfrm>
          <a:off x="6400800" y="1295400"/>
          <a:ext cx="2667000" cy="41374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</a:rPr>
                        <a:t>Distance from John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sqrt [(35-37)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+(35-50)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+(3-2)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]=15.16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sqrt [(22-37)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+(50-50)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+(2-2)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]=15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sqrt [(63-37)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+(200-50)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+(1-2)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]=152.23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6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sqrt [(59-37)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+(170-50)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+(1-2)</a:t>
                      </a:r>
                      <a:r>
                        <a:rPr kumimoji="0" lang="en-US" sz="1600" u="none" strike="noStrike" cap="none" normalizeH="0" baseline="3000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]=122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6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sqrt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[(25-37)</a:t>
                      </a:r>
                      <a:r>
                        <a:rPr kumimoji="0" lang="en-US" sz="1600" u="none" strike="noStrike" cap="none" normalizeH="0" baseline="3000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+(40-50)</a:t>
                      </a:r>
                      <a:r>
                        <a:rPr kumimoji="0" lang="en-US" sz="1600" u="none" strike="noStrike" cap="none" normalizeH="0" baseline="30000" dirty="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+(4-2)</a:t>
                      </a:r>
                      <a:r>
                        <a:rPr kumimoji="0" lang="en-US" sz="1600" u="none" strike="noStrike" cap="none" normalizeH="0" baseline="3000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]=15.74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" name="Group 123"/>
          <p:cNvGraphicFramePr>
            <a:graphicFrameLocks noGrp="1"/>
          </p:cNvGraphicFramePr>
          <p:nvPr/>
        </p:nvGraphicFramePr>
        <p:xfrm>
          <a:off x="304800" y="1295400"/>
          <a:ext cx="5876926" cy="4519620"/>
        </p:xfrm>
        <a:graphic>
          <a:graphicData uri="http://schemas.openxmlformats.org/drawingml/2006/table">
            <a:tbl>
              <a:tblPr/>
              <a:tblGrid>
                <a:gridCol w="1488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2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782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Customer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Income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No. credit 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George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35K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Rachel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Steve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200K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170K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Anne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40K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50K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2362200"/>
            <a:ext cx="2667000" cy="609600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00800" y="2971800"/>
            <a:ext cx="2667000" cy="609600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00800" y="4800600"/>
            <a:ext cx="2667000" cy="609600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53000" y="5410200"/>
            <a:ext cx="1219200" cy="381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65404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71221" y="141111"/>
            <a:ext cx="5799667" cy="726194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choose K?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181600"/>
          </a:xfrm>
        </p:spPr>
        <p:txBody>
          <a:bodyPr>
            <a:normAutofit/>
          </a:bodyPr>
          <a:lstStyle/>
          <a:p>
            <a:pPr>
              <a:spcBef>
                <a:spcPts val="24"/>
              </a:spcBef>
            </a:pPr>
            <a:r>
              <a:rPr lang="en-US" sz="2500" dirty="0"/>
              <a:t>If K is too small it is sensitive to noise points.</a:t>
            </a:r>
          </a:p>
          <a:p>
            <a:pPr marL="0" indent="0">
              <a:spcBef>
                <a:spcPts val="24"/>
              </a:spcBef>
              <a:buNone/>
            </a:pPr>
            <a:endParaRPr lang="en-US" sz="2500" dirty="0"/>
          </a:p>
          <a:p>
            <a:pPr>
              <a:spcBef>
                <a:spcPts val="24"/>
              </a:spcBef>
            </a:pPr>
            <a:r>
              <a:rPr lang="en-US" sz="2500" dirty="0"/>
              <a:t>Larger K works well. But too large K may include majority points from other classes.</a:t>
            </a:r>
          </a:p>
          <a:p>
            <a:endParaRPr lang="en-US" sz="2500" dirty="0"/>
          </a:p>
          <a:p>
            <a:endParaRPr lang="en-US" sz="2500" dirty="0"/>
          </a:p>
          <a:p>
            <a:endParaRPr lang="en-US" sz="2500" dirty="0"/>
          </a:p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Rule of thumb is K &lt; </a:t>
            </a:r>
            <a:r>
              <a:rPr lang="en-US" sz="2500" dirty="0" err="1"/>
              <a:t>sqrt</a:t>
            </a:r>
            <a:r>
              <a:rPr lang="en-US" sz="2500" dirty="0"/>
              <a:t>(n), n is number of examples.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27651" name="Object 4"/>
          <p:cNvGraphicFramePr>
            <a:graphicFrameLocks noChangeAspect="1"/>
          </p:cNvGraphicFramePr>
          <p:nvPr/>
        </p:nvGraphicFramePr>
        <p:xfrm>
          <a:off x="3733800" y="3079750"/>
          <a:ext cx="2209800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663898" imgH="5483017" progId="Visio.Drawing.11">
                  <p:embed/>
                </p:oleObj>
              </mc:Choice>
              <mc:Fallback>
                <p:oleObj name="Visio" r:id="rId3" imgW="6663898" imgH="548301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079750"/>
                        <a:ext cx="2209800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Oval 7"/>
          <p:cNvSpPr/>
          <p:nvPr/>
        </p:nvSpPr>
        <p:spPr>
          <a:xfrm>
            <a:off x="4495800" y="3657600"/>
            <a:ext cx="685800" cy="685800"/>
          </a:xfrm>
          <a:prstGeom prst="ellipse">
            <a:avLst/>
          </a:prstGeom>
          <a:noFill/>
          <a:ln w="317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3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reen Shot 2015-07-07 at 6.02.44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68" b="-9868"/>
          <a:stretch>
            <a:fillRect/>
          </a:stretch>
        </p:blipFill>
        <p:spPr/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62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533400" y="1600200"/>
          <a:ext cx="7848600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756360" imgH="4523760" progId="Visio.Drawing.6">
                  <p:embed/>
                </p:oleObj>
              </mc:Choice>
              <mc:Fallback>
                <p:oleObj name="VISIO" r:id="rId3" imgW="9756360" imgH="452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7848600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62000" y="5257800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0"/>
              <a:buNone/>
            </a:pPr>
            <a:r>
              <a:rPr lang="en-US" sz="2400" b="0">
                <a:solidFill>
                  <a:schemeClr val="tx1"/>
                </a:solidFill>
                <a:latin typeface="Arial" charset="0"/>
              </a:rPr>
              <a:t>    </a:t>
            </a:r>
            <a:r>
              <a:rPr lang="en-US" sz="2400">
                <a:solidFill>
                  <a:schemeClr val="tx1"/>
                </a:solidFill>
                <a:latin typeface="Arial" charset="0"/>
              </a:rPr>
              <a:t>K-nearest neighbors of a record x are data points that have the k smallest distance to x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9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KNN Feature Weighting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71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Scale each feature by its importance for classification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use our prior knowledge about which features are more important </a:t>
            </a:r>
          </a:p>
          <a:p>
            <a:r>
              <a:rPr lang="en-US" dirty="0"/>
              <a:t>Can learn the weights </a:t>
            </a:r>
            <a:r>
              <a:rPr lang="en-US" b="1" dirty="0" err="1"/>
              <a:t>w</a:t>
            </a:r>
            <a:r>
              <a:rPr lang="en-US" b="1" baseline="-25000" dirty="0" err="1"/>
              <a:t>k</a:t>
            </a:r>
            <a:r>
              <a:rPr lang="en-US" b="1" dirty="0"/>
              <a:t> </a:t>
            </a:r>
            <a:r>
              <a:rPr lang="en-US" dirty="0"/>
              <a:t>using </a:t>
            </a:r>
            <a:r>
              <a:rPr lang="en-US" b="1" dirty="0">
                <a:solidFill>
                  <a:srgbClr val="FF0000"/>
                </a:solidFill>
              </a:rPr>
              <a:t>cross‐validation </a:t>
            </a:r>
            <a:r>
              <a:rPr lang="en-US" dirty="0"/>
              <a:t>(to be covered later) </a:t>
            </a:r>
          </a:p>
          <a:p>
            <a:endParaRPr lang="en-US" dirty="0"/>
          </a:p>
        </p:txBody>
      </p:sp>
      <p:pic>
        <p:nvPicPr>
          <p:cNvPr id="4" name="Picture 3" descr="Screen Shot 2015-07-07 at 6.10.1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700" y="2616200"/>
            <a:ext cx="5562600" cy="13843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8662D-46D9-5540-9846-D84557FAF31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3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9918"/>
            <a:ext cx="8229600" cy="683860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Normalization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6533" y="733778"/>
            <a:ext cx="8229600" cy="4687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Distance between neighbors could be dominated by some attributes with relatively large numbers.</a:t>
            </a:r>
          </a:p>
          <a:p>
            <a:pPr marL="603504" lvl="2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dirty="0"/>
              <a:t>e.g., income of customers in our previous example.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Arises when two features are in different scales.</a:t>
            </a:r>
          </a:p>
          <a:p>
            <a:pPr lvl="1"/>
            <a:endParaRPr lang="en-US" dirty="0"/>
          </a:p>
          <a:p>
            <a:r>
              <a:rPr lang="en-US" dirty="0"/>
              <a:t>Important to normalize those features.</a:t>
            </a:r>
          </a:p>
          <a:p>
            <a:pPr lvl="1"/>
            <a:r>
              <a:rPr lang="en-US" dirty="0"/>
              <a:t>Mapping values to numbers between 0 – 1.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" name="Picture 2" descr="Screen Shot 2015-07-07 at 10.27.0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444" y="2642946"/>
            <a:ext cx="2788356" cy="90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1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6836" y="274638"/>
            <a:ext cx="8229600" cy="1143000"/>
          </a:xfrm>
        </p:spPr>
        <p:txBody>
          <a:bodyPr/>
          <a:lstStyle/>
          <a:p>
            <a:r>
              <a:rPr lang="en-US" dirty="0"/>
              <a:t>Nominal/Categorical Data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0636" y="649826"/>
            <a:ext cx="8305800" cy="5911479"/>
          </a:xfrm>
        </p:spPr>
        <p:txBody>
          <a:bodyPr>
            <a:normAutofit/>
          </a:bodyPr>
          <a:lstStyle/>
          <a:p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Distance works naturally with numerical attributes. 	</a:t>
            </a:r>
          </a:p>
          <a:p>
            <a:endParaRPr lang="en-US" sz="2500" dirty="0"/>
          </a:p>
          <a:p>
            <a:r>
              <a:rPr lang="en-US" sz="2500" dirty="0"/>
              <a:t>Binary value categorical data attributes can be regarded as 1 or 0.</a:t>
            </a:r>
          </a:p>
          <a:p>
            <a:endParaRPr lang="en-US" sz="25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 descr="Screen Shot 2015-07-07 at 5.51.53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412" y="3131420"/>
            <a:ext cx="3198421" cy="342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3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Calibri" charset="0"/>
              </a:rPr>
              <a:t>KNN Classification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990600" y="1752600"/>
          <a:ext cx="739140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4191000" y="5562600"/>
            <a:ext cx="539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CA"/>
              <a:t>Age</a:t>
            </a:r>
          </a:p>
        </p:txBody>
      </p:sp>
      <p:sp>
        <p:nvSpPr>
          <p:cNvPr id="12293" name="TextBox 6"/>
          <p:cNvSpPr txBox="1">
            <a:spLocks noChangeArrowheads="1"/>
          </p:cNvSpPr>
          <p:nvPr/>
        </p:nvSpPr>
        <p:spPr bwMode="auto">
          <a:xfrm>
            <a:off x="228600" y="3352800"/>
            <a:ext cx="754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CA"/>
              <a:t>Loan$</a:t>
            </a:r>
          </a:p>
        </p:txBody>
      </p:sp>
      <p:cxnSp>
        <p:nvCxnSpPr>
          <p:cNvPr id="11" name="Straight Arrow Connector 10"/>
          <p:cNvCxnSpPr>
            <a:cxnSpLocks noChangeShapeType="1"/>
          </p:cNvCxnSpPr>
          <p:nvPr/>
        </p:nvCxnSpPr>
        <p:spPr bwMode="auto">
          <a:xfrm rot="5400000" flipH="1" flipV="1">
            <a:off x="4914901" y="2781300"/>
            <a:ext cx="838200" cy="3175"/>
          </a:xfrm>
          <a:prstGeom prst="straightConnector1">
            <a:avLst/>
          </a:prstGeom>
          <a:noFill/>
          <a:ln w="25400">
            <a:solidFill>
              <a:srgbClr val="9BBB59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 rot="5400000">
            <a:off x="4943475" y="3590925"/>
            <a:ext cx="609600" cy="133350"/>
          </a:xfrm>
          <a:prstGeom prst="straightConnector1">
            <a:avLst/>
          </a:prstGeom>
          <a:noFill/>
          <a:ln w="25400">
            <a:solidFill>
              <a:srgbClr val="9BBB59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4" name="Flowchart: Connector 23"/>
          <p:cNvSpPr/>
          <p:nvPr/>
        </p:nvSpPr>
        <p:spPr>
          <a:xfrm>
            <a:off x="5257800" y="3200400"/>
            <a:ext cx="152400" cy="152400"/>
          </a:xfrm>
          <a:prstGeom prst="flowChart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9ADA8BD8-4FA3-F24B-93BB-D1B63204E74E}" type="slidenum">
              <a:rPr lang="en-US">
                <a:solidFill>
                  <a:srgbClr val="898989"/>
                </a:solidFill>
              </a:rPr>
              <a:pPr/>
              <a:t>19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329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Calibri" charset="0"/>
              </a:rPr>
              <a:t>KNN Classification – </a:t>
            </a:r>
            <a:r>
              <a:rPr lang="en-CA" sz="4000">
                <a:latin typeface="Calibri" charset="0"/>
              </a:rPr>
              <a:t>Distance</a:t>
            </a:r>
            <a:endParaRPr lang="en-CA">
              <a:latin typeface="Calibri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1447800"/>
          <a:ext cx="6400800" cy="397381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548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4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 dirty="0"/>
                        <a:t>Age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Loan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Default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 dirty="0"/>
                        <a:t>Distance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25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$40,000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102000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35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$60,000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82000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45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$80,000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62000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20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$20,000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122000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35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$120,000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22000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52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$18,000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 dirty="0"/>
                        <a:t>N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124000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23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$95,000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47000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40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$62,000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80000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60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$100,000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42000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48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$220,000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78000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33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$150,000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8000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1" u="none" strike="noStrike" dirty="0">
                          <a:solidFill>
                            <a:srgbClr val="006600"/>
                          </a:solidFill>
                        </a:rPr>
                        <a:t>48</a:t>
                      </a:r>
                      <a:endParaRPr lang="en-CA" sz="1800" b="1" i="0" u="none" strike="noStrike" dirty="0">
                        <a:solidFill>
                          <a:srgbClr val="0066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b="1" u="none" strike="noStrike" dirty="0">
                          <a:solidFill>
                            <a:srgbClr val="006600"/>
                          </a:solidFill>
                        </a:rPr>
                        <a:t>$142,000</a:t>
                      </a:r>
                      <a:endParaRPr lang="en-CA" sz="1800" b="1" i="0" u="none" strike="noStrike" dirty="0">
                        <a:solidFill>
                          <a:srgbClr val="0066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1" u="none" strike="noStrike" dirty="0">
                          <a:solidFill>
                            <a:srgbClr val="006600"/>
                          </a:solidFill>
                        </a:rPr>
                        <a:t>?</a:t>
                      </a:r>
                      <a:endParaRPr lang="en-CA" sz="1800" b="1" i="0" u="none" strike="noStrike" dirty="0">
                        <a:solidFill>
                          <a:srgbClr val="0066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rot="10800000">
            <a:off x="5486400" y="4724400"/>
            <a:ext cx="1752600" cy="1588"/>
          </a:xfrm>
          <a:prstGeom prst="straightConnector1">
            <a:avLst/>
          </a:prstGeom>
          <a:noFill/>
          <a:ln w="25400">
            <a:solidFill>
              <a:srgbClr val="F79646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 rot="5400000">
            <a:off x="5180013" y="5029200"/>
            <a:ext cx="306388" cy="1587"/>
          </a:xfrm>
          <a:prstGeom prst="straightConnector1">
            <a:avLst/>
          </a:prstGeom>
          <a:noFill/>
          <a:ln w="25400">
            <a:solidFill>
              <a:srgbClr val="F79646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2819400" y="5486400"/>
          <a:ext cx="43434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279360" progId="Equation.3">
                  <p:embed/>
                </p:oleObj>
              </mc:Choice>
              <mc:Fallback>
                <p:oleObj name="Equation" r:id="rId2" imgW="1714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486400"/>
                        <a:ext cx="4343400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 rot="19963274">
            <a:off x="1352095" y="5639086"/>
            <a:ext cx="1745991" cy="338554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CA" sz="1400">
                <a:solidFill>
                  <a:srgbClr val="000000"/>
                </a:solidFill>
              </a:rPr>
              <a:t>Euclidean Distance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2E9F36F7-3C4B-1E40-BB12-DC09CDE55EC7}" type="slidenum">
              <a:rPr lang="en-US">
                <a:solidFill>
                  <a:srgbClr val="898989"/>
                </a:solidFill>
              </a:rPr>
              <a:pPr/>
              <a:t>20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757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>
                <a:latin typeface="Calibri" charset="0"/>
              </a:rPr>
              <a:t>KNN Classification – </a:t>
            </a:r>
            <a:r>
              <a:rPr lang="en-CA" sz="3200">
                <a:latin typeface="Calibri" charset="0"/>
              </a:rPr>
              <a:t>Standardized Distance</a:t>
            </a:r>
            <a:endParaRPr lang="en-CA" sz="4000">
              <a:latin typeface="Calibri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47800"/>
          <a:ext cx="6477001" cy="3973816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60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822"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 dirty="0"/>
                        <a:t>Age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Loan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Default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 dirty="0"/>
                        <a:t>Distance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0.125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0.11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0.7652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0.375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0.21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0.5200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0.625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0.3160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0.01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0.9245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0.375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0.50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0.3428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N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0.6220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0.075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0.38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0.6669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0.22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 dirty="0"/>
                        <a:t>0.4437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0.41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0.3650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0.7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1.00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0.3861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0.325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0.65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u="none" strike="noStrike"/>
                        <a:t>Y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u="none" strike="noStrike"/>
                        <a:t>0.3771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822"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b="1" u="none" strike="noStrike" dirty="0">
                          <a:solidFill>
                            <a:srgbClr val="006600"/>
                          </a:solidFill>
                        </a:rPr>
                        <a:t>0.7</a:t>
                      </a:r>
                      <a:endParaRPr lang="en-CA" sz="1800" b="1" i="0" u="none" strike="noStrike" dirty="0">
                        <a:solidFill>
                          <a:srgbClr val="0066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800" b="1" u="none" strike="noStrike" dirty="0">
                          <a:solidFill>
                            <a:srgbClr val="006600"/>
                          </a:solidFill>
                        </a:rPr>
                        <a:t>0.61</a:t>
                      </a:r>
                      <a:endParaRPr lang="en-CA" sz="1800" b="1" i="0" u="none" strike="noStrike" dirty="0">
                        <a:solidFill>
                          <a:srgbClr val="0066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800" b="1" u="none" strike="noStrike" dirty="0">
                          <a:solidFill>
                            <a:srgbClr val="006600"/>
                          </a:solidFill>
                        </a:rPr>
                        <a:t>?</a:t>
                      </a:r>
                      <a:endParaRPr lang="en-CA" sz="1800" b="1" i="0" u="none" strike="noStrike" dirty="0">
                        <a:solidFill>
                          <a:srgbClr val="0066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4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rot="10800000">
            <a:off x="5486400" y="2438400"/>
            <a:ext cx="1600200" cy="1588"/>
          </a:xfrm>
          <a:prstGeom prst="straightConnector1">
            <a:avLst/>
          </a:prstGeom>
          <a:noFill/>
          <a:ln w="25400">
            <a:solidFill>
              <a:srgbClr val="F79646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" name="Straight Connector 17"/>
          <p:cNvCxnSpPr>
            <a:cxnSpLocks noChangeShapeType="1"/>
          </p:cNvCxnSpPr>
          <p:nvPr/>
        </p:nvCxnSpPr>
        <p:spPr bwMode="auto">
          <a:xfrm rot="5400000">
            <a:off x="3619501" y="3846512"/>
            <a:ext cx="2819400" cy="3175"/>
          </a:xfrm>
          <a:prstGeom prst="line">
            <a:avLst/>
          </a:prstGeom>
          <a:noFill/>
          <a:ln w="25400">
            <a:solidFill>
              <a:srgbClr val="F79646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" name="Straight Connector 19"/>
          <p:cNvCxnSpPr>
            <a:cxnSpLocks noChangeShapeType="1"/>
          </p:cNvCxnSpPr>
          <p:nvPr/>
        </p:nvCxnSpPr>
        <p:spPr bwMode="auto">
          <a:xfrm>
            <a:off x="5029200" y="2438400"/>
            <a:ext cx="228600" cy="1588"/>
          </a:xfrm>
          <a:prstGeom prst="line">
            <a:avLst/>
          </a:prstGeom>
          <a:noFill/>
          <a:ln w="25400">
            <a:solidFill>
              <a:srgbClr val="F79646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>
            <a:off x="5029200" y="5257800"/>
            <a:ext cx="228600" cy="1588"/>
          </a:xfrm>
          <a:prstGeom prst="straightConnector1">
            <a:avLst/>
          </a:prstGeom>
          <a:noFill/>
          <a:ln w="25400">
            <a:solidFill>
              <a:srgbClr val="F79646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050" name="Object 1"/>
          <p:cNvGraphicFramePr>
            <a:graphicFrameLocks noChangeAspect="1"/>
          </p:cNvGraphicFramePr>
          <p:nvPr/>
        </p:nvGraphicFramePr>
        <p:xfrm>
          <a:off x="3429000" y="5486400"/>
          <a:ext cx="23622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393480" progId="Equation.3">
                  <p:embed/>
                </p:oleObj>
              </mc:Choice>
              <mc:Fallback>
                <p:oleObj name="Equation" r:id="rId3" imgW="1066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86400"/>
                        <a:ext cx="2362200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 rot="19963274">
            <a:off x="2024375" y="5542405"/>
            <a:ext cx="1989134" cy="338554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CA" sz="1400">
                <a:solidFill>
                  <a:srgbClr val="000000"/>
                </a:solidFill>
              </a:rPr>
              <a:t>Standardized Variable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fld id="{EAB43600-A512-FA4E-9810-E3090F3D8ABB}" type="slidenum">
              <a:rPr lang="en-US">
                <a:solidFill>
                  <a:srgbClr val="898989"/>
                </a:solidFill>
              </a:rPr>
              <a:pPr/>
              <a:t>21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285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1270000" y="7938"/>
            <a:ext cx="8229600" cy="728662"/>
          </a:xfrm>
        </p:spPr>
        <p:txBody>
          <a:bodyPr>
            <a:normAutofit/>
          </a:bodyPr>
          <a:lstStyle/>
          <a:p>
            <a:r>
              <a:rPr lang="en-US" sz="3200" dirty="0"/>
              <a:t>Strengths of KNN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36600"/>
            <a:ext cx="8445500" cy="4767072"/>
          </a:xfrm>
        </p:spPr>
        <p:txBody>
          <a:bodyPr>
            <a:normAutofit/>
          </a:bodyPr>
          <a:lstStyle/>
          <a:p>
            <a:r>
              <a:rPr lang="en-US" sz="2400" dirty="0"/>
              <a:t>Very simple and intuitive.</a:t>
            </a:r>
          </a:p>
          <a:p>
            <a:r>
              <a:rPr lang="en-US" sz="2400" dirty="0"/>
              <a:t>Can be applied to the data from any distribution.</a:t>
            </a:r>
          </a:p>
          <a:p>
            <a:r>
              <a:rPr lang="en-US" sz="2400" dirty="0"/>
              <a:t>Good classification if the number of samples is large enough.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ABE1-84F5-4D76-9E85-8C496C70619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0" y="2535238"/>
            <a:ext cx="5384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Weaknesses of KNN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758674"/>
            <a:ext cx="8229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/>
              <a:t>Takes more time to classify a new example.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dirty="0"/>
              <a:t>need to calculate and compare distance from new example to all other examples.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Choosing k may be tricky.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Need large number of samples for accuracy.</a:t>
            </a:r>
          </a:p>
        </p:txBody>
      </p:sp>
    </p:spTree>
    <p:extLst>
      <p:ext uri="{BB962C8B-B14F-4D97-AF65-F5344CB8AC3E}">
        <p14:creationId xmlns:p14="http://schemas.microsoft.com/office/powerpoint/2010/main" val="31668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4774</TotalTime>
  <Words>1197</Words>
  <Application>Microsoft Office PowerPoint</Application>
  <PresentationFormat>On-screen Show (4:3)</PresentationFormat>
  <Paragraphs>334</Paragraphs>
  <Slides>22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Monotype Sorts</vt:lpstr>
      <vt:lpstr>Tahoma</vt:lpstr>
      <vt:lpstr>Times New Roman</vt:lpstr>
      <vt:lpstr>Wingdings</vt:lpstr>
      <vt:lpstr>Wingdings 3</vt:lpstr>
      <vt:lpstr>Office Theme</vt:lpstr>
      <vt:lpstr>Equation</vt:lpstr>
      <vt:lpstr>Visio</vt:lpstr>
      <vt:lpstr>VISIO</vt:lpstr>
      <vt:lpstr>Algorithms: K Nearest Neighbors </vt:lpstr>
      <vt:lpstr>Simple Analogy..</vt:lpstr>
      <vt:lpstr>Instance-based Learning</vt:lpstr>
      <vt:lpstr>KNN – Different names</vt:lpstr>
      <vt:lpstr>What is KNN?</vt:lpstr>
      <vt:lpstr>KNN: Classification Approach</vt:lpstr>
      <vt:lpstr>PowerPoint Presentation</vt:lpstr>
      <vt:lpstr>Distance Measure</vt:lpstr>
      <vt:lpstr>Distance measure for Continuous Variables</vt:lpstr>
      <vt:lpstr>Distance Between Neighbors</vt:lpstr>
      <vt:lpstr>K-Nearest Neighbor Algorithm</vt:lpstr>
      <vt:lpstr>3-KNN: Example(1)</vt:lpstr>
      <vt:lpstr>How to choose K?</vt:lpstr>
      <vt:lpstr>PowerPoint Presentation</vt:lpstr>
      <vt:lpstr>PowerPoint Presentation</vt:lpstr>
      <vt:lpstr>KNN Feature Weighting</vt:lpstr>
      <vt:lpstr>Feature Normalization</vt:lpstr>
      <vt:lpstr>Nominal/Categorical Data</vt:lpstr>
      <vt:lpstr>KNN Classification</vt:lpstr>
      <vt:lpstr>KNN Classification – Distance</vt:lpstr>
      <vt:lpstr>KNN Classification – Standardized Distance</vt:lpstr>
      <vt:lpstr>Strengths of KNN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Damon Salvatore</dc:creator>
  <cp:lastModifiedBy>عبد الرحمن ابوزيد محمود بركات</cp:lastModifiedBy>
  <cp:revision>276</cp:revision>
  <cp:lastPrinted>2015-07-09T02:37:22Z</cp:lastPrinted>
  <dcterms:created xsi:type="dcterms:W3CDTF">2015-06-08T09:21:13Z</dcterms:created>
  <dcterms:modified xsi:type="dcterms:W3CDTF">2024-12-13T20:45:22Z</dcterms:modified>
</cp:coreProperties>
</file>